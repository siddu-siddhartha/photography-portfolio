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0d6d20c-fe87-9e17-bb4c-ff6424185d06}">
          <p14:sldIdLst>
            <p14:sldId id="256"/>
            <p14:sldId id="257"/>
            <p14:sldId id="258"/>
          </p14:sldIdLst>
        </p14:section>
        <p14:section name="System Design" id="{0ca660d3-80ae-4291-a866-1035caed05a5}">
          <p14:sldIdLst>
            <p14:sldId id="259"/>
            <p14:sldId id="260"/>
          </p14:sldIdLst>
        </p14:section>
        <p14:section name="Implementation" id="{a53525f9-50c2-c7c1-4acd-e287927e948f}">
          <p14:sldIdLst>
            <p14:sldId id="261"/>
            <p14:sldId id="262"/>
            <p14:sldId id="263"/>
            <p14:sldId id="264"/>
          </p14:sldIdLst>
        </p14:section>
        <p14:section name="Results" id="{96add88a-f4ed-5258-35b7-9e5487c801e8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LensFolio, a photography portfolio that grew from static HTML pages into an Angular single-page booking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abstract briefly, then state the problem: no single place for a client to browse and book a photographer.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objectives map to the three stages of the course: HTML/CSS, JavaScript, then TypeScript and Angular.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right: the browser loads HTML pages styled by CSS, JavaScript adds behaviour and fetches data, TypeScript adds types, and Angular ties it into a single-page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concept from the syllabus and where it lives in the project, with the member who built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gives every page its structure; one external stylesheet keeps the look consistent. Week 3 compared inline, internal and external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JavaScript validates forms, filters the catalogue and talks to servers with fetch. TypeScript adds an interface and a class so mistakes are caught at compile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parent passes each photo down with property binding; the card sends a 'liked' event back up. ngClass colours the price, and our own appHighlight directive tints a card on hover.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 hold the photo list and the bookings so every page shares the same data. The booking form is template-driven with ngModel; routing swaps pages without reloading.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gallery, then the booking form: errors appear as you type and the button stays disabled until the form is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was built and the concepts applied, then the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NTENT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TITLE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144" y="146304"/>
            <a:ext cx="987552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648" y="46451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 &amp; ML • ANURAG UNIVERSITY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120640" y="46451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EWP · AIML-C · LensFolio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144" y="146304"/>
            <a:ext cx="987552" cy="2926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603504"/>
            <a:ext cx="36576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58521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Machine Learning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4630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 OF WEB PROGRAMMING (EWP) · PROJECT PRESENTATION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68249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LensFolio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2860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Photography Portfolio &amp; Shoot Booking App</a:t>
            </a:r>
            <a:endParaRPr lang="en-US" sz="1800" dirty="0"/>
          </a:p>
        </p:txBody>
      </p:sp>
      <p:sp>
        <p:nvSpPr>
          <p:cNvPr id="7" name="Mapping pill"/>
          <p:cNvSpPr/>
          <p:nvPr/>
        </p:nvSpPr>
        <p:spPr>
          <a:xfrm>
            <a:off x="612648" y="2724912"/>
            <a:ext cx="4160520" cy="274320"/>
          </a:xfrm>
          <a:prstGeom prst="roundRect">
            <a:avLst>
              <a:gd name="adj" fmla="val 50000"/>
            </a:avLst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27249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HTML · CSS · JavaScript · TypeScript · Angular</a:t>
            </a:r>
            <a:endParaRPr lang="en-US" sz="1100" dirty="0"/>
          </a:p>
        </p:txBody>
      </p:sp>
      <p:sp>
        <p:nvSpPr>
          <p:cNvPr id="9" name="Polaroid frame"/>
          <p:cNvSpPr/>
          <p:nvPr/>
        </p:nvSpPr>
        <p:spPr>
          <a:xfrm rot="240000">
            <a:off x="5870448" y="932688"/>
            <a:ext cx="261518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  <a:effectLst>
            <a:outerShdw sx="100000" sy="100000" kx="0" ky="0" algn="bl" rotWithShape="0" blurRad="127000" dist="50800" dir="5400000">
              <a:srgbClr val="1F2A44">
                <a:alpha val="25000"/>
              </a:srgbClr>
            </a:outerShdw>
          </a:effectLst>
        </p:spPr>
      </p:sp>
      <p:pic>
        <p:nvPicPr>
          <p:cNvPr id="10" name="Image 0" descr="LensFolio Angular gallery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40000">
            <a:off x="5961888" y="1024128"/>
            <a:ext cx="2432304" cy="1371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 rot="240000">
            <a:off x="5961888" y="240487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live Angular gallery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3182112"/>
          <a:ext cx="4663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Members · AIML-C · III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24EG107C10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Devarapalli Akshaya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24EG107C22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Kasam Siddhartha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24EG107C54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Syed Ibrahim Ahmed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24EG107C57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Vellore Yashashwini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623560" y="35295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562356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Chamundeshwari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623560" y="40416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Dept. of AI &amp; 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 Problem Statement</a:t>
            </a:r>
            <a:endParaRPr lang="en-US" sz="3000" dirty="0"/>
          </a:p>
        </p:txBody>
      </p:sp>
      <p:sp>
        <p:nvSpPr>
          <p:cNvPr id="4" name="Section icon"/>
          <p:cNvSpPr/>
          <p:nvPr/>
        </p:nvSpPr>
        <p:spPr>
          <a:xfrm>
            <a:off x="598932" y="653796"/>
            <a:ext cx="493776" cy="493776"/>
          </a:xfrm>
          <a:prstGeom prst="ellipse">
            <a:avLst/>
          </a:prstGeom>
          <a:solidFill>
            <a:srgbClr val="001F5F"/>
          </a:solidFill>
          <a:ln w="3175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818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" y="1335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609344"/>
            <a:ext cx="7927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LensFolio is an online photography portfolio built up across the EWP lab weeks. Visitors log in, browse a searchable photo catalogue, view photographer data loaded with AJAX from JSON and XML, and contact a photographer through a REST API. The journey ends in an Angular single-page app where clients browse the gallery, book a shoot with live form validation and see their bookings, all without a page reload.</a:t>
            </a:r>
            <a:endParaRPr lang="en-US" sz="1300" dirty="0"/>
          </a:p>
        </p:txBody>
      </p:sp>
      <p:sp>
        <p:nvSpPr>
          <p:cNvPr id="8" name="Problem statement panel"/>
          <p:cNvSpPr/>
          <p:nvPr/>
        </p:nvSpPr>
        <p:spPr>
          <a:xfrm>
            <a:off x="612648" y="2615184"/>
            <a:ext cx="7927848" cy="914400"/>
          </a:xfrm>
          <a:prstGeom prst="roundRect">
            <a:avLst>
              <a:gd name="adj" fmla="val 8000"/>
            </a:avLst>
          </a:prstGeom>
          <a:solidFill>
            <a:srgbClr val="001F5F"/>
          </a:solidFill>
          <a:ln w="9525">
            <a:solidFill>
              <a:srgbClr val="001F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706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944368"/>
            <a:ext cx="7452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photographers show their work on scattered social posts and take bookings over calls, so clients cannot browse categories, compare prices and request a shoot in one place.</a:t>
            </a:r>
            <a:endParaRPr lang="en-US" sz="1400" dirty="0"/>
          </a:p>
        </p:txBody>
      </p:sp>
      <p:sp>
        <p:nvSpPr>
          <p:cNvPr id="11" name="Stat tile"/>
          <p:cNvSpPr/>
          <p:nvPr/>
        </p:nvSpPr>
        <p:spPr>
          <a:xfrm>
            <a:off x="612648" y="3694176"/>
            <a:ext cx="18653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373075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1271016" y="373075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modules</a:t>
            </a:r>
            <a:endParaRPr lang="en-US" sz="1150" dirty="0"/>
          </a:p>
        </p:txBody>
      </p:sp>
      <p:sp>
        <p:nvSpPr>
          <p:cNvPr id="14" name="Stat tile"/>
          <p:cNvSpPr/>
          <p:nvPr/>
        </p:nvSpPr>
        <p:spPr>
          <a:xfrm>
            <a:off x="2633472" y="3694176"/>
            <a:ext cx="18653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70632" y="373075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373075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technologies</a:t>
            </a:r>
            <a:endParaRPr lang="en-US" sz="1150" dirty="0"/>
          </a:p>
        </p:txBody>
      </p:sp>
      <p:sp>
        <p:nvSpPr>
          <p:cNvPr id="17" name="Stat tile"/>
          <p:cNvSpPr/>
          <p:nvPr/>
        </p:nvSpPr>
        <p:spPr>
          <a:xfrm>
            <a:off x="4654296" y="3694176"/>
            <a:ext cx="18653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91456" y="373075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5312664" y="373075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apps</a:t>
            </a:r>
            <a:endParaRPr lang="en-US" sz="1150" dirty="0"/>
          </a:p>
        </p:txBody>
      </p:sp>
      <p:sp>
        <p:nvSpPr>
          <p:cNvPr id="20" name="Stat tile"/>
          <p:cNvSpPr/>
          <p:nvPr/>
        </p:nvSpPr>
        <p:spPr>
          <a:xfrm>
            <a:off x="6675120" y="3694176"/>
            <a:ext cx="186537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12280" y="373075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7333488" y="373075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routes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Proposed System</a:t>
            </a:r>
            <a:endParaRPr lang="en-US" sz="3000" dirty="0"/>
          </a:p>
        </p:txBody>
      </p:sp>
      <p:sp>
        <p:nvSpPr>
          <p:cNvPr id="4" name="Section icon"/>
          <p:cNvSpPr/>
          <p:nvPr/>
        </p:nvSpPr>
        <p:spPr>
          <a:xfrm>
            <a:off x="598932" y="653796"/>
            <a:ext cx="493776" cy="493776"/>
          </a:xfrm>
          <a:prstGeom prst="ellipse">
            <a:avLst/>
          </a:prstGeom>
          <a:solidFill>
            <a:srgbClr val="001F5F"/>
          </a:solidFill>
          <a:ln w="3175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818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" y="1335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7" name="Objective card"/>
          <p:cNvSpPr/>
          <p:nvPr/>
        </p:nvSpPr>
        <p:spPr>
          <a:xfrm>
            <a:off x="612648" y="1645920"/>
            <a:ext cx="38130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consistent multi-page portfolio with semantic HTML5 and one shared CSS3 stylesheet</a:t>
            </a:r>
            <a:endParaRPr lang="en-US" sz="1200" dirty="0"/>
          </a:p>
        </p:txBody>
      </p:sp>
      <p:sp>
        <p:nvSpPr>
          <p:cNvPr id="10" name="Objective card"/>
          <p:cNvSpPr/>
          <p:nvPr/>
        </p:nvSpPr>
        <p:spPr>
          <a:xfrm>
            <a:off x="612648" y="2304288"/>
            <a:ext cx="38130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042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3042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interactivity with JavaScript: form validation, live search and AJAX data loading</a:t>
            </a:r>
            <a:endParaRPr lang="en-US" sz="1200" dirty="0"/>
          </a:p>
        </p:txBody>
      </p:sp>
      <p:sp>
        <p:nvSpPr>
          <p:cNvPr id="13" name="Objective card"/>
          <p:cNvSpPr/>
          <p:nvPr/>
        </p:nvSpPr>
        <p:spPr>
          <a:xfrm>
            <a:off x="612648" y="2962656"/>
            <a:ext cx="381304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29626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9626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key flow in TypeScript and Angular as a single-page booking app</a:t>
            </a:r>
            <a:endParaRPr lang="en-US" sz="1200" dirty="0"/>
          </a:p>
        </p:txBody>
      </p:sp>
      <p:sp>
        <p:nvSpPr>
          <p:cNvPr id="16" name="Proposed system panel"/>
          <p:cNvSpPr/>
          <p:nvPr/>
        </p:nvSpPr>
        <p:spPr>
          <a:xfrm>
            <a:off x="4645152" y="1335024"/>
            <a:ext cx="3895344" cy="2697480"/>
          </a:xfrm>
          <a:prstGeom prst="roundRect">
            <a:avLst>
              <a:gd name="adj" fmla="val 2712"/>
            </a:avLst>
          </a:prstGeom>
          <a:solidFill>
            <a:srgbClr val="001F5F"/>
          </a:solidFill>
          <a:ln w="9525">
            <a:solidFill>
              <a:srgbClr val="001F5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175564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portfolio site where every module is linked from a shared navbar. The Angular SPA lets a client pick a photo category, book a shoot with instant validation and review bookings, with no page reloads.</a:t>
            </a:r>
            <a:endParaRPr lang="en-US" sz="12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843784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66360" y="2816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photo catalogue &amp; gallery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227832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16636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 data via JSON / XML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11880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166360" y="3584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booking form + My Bookings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Architecture</a:t>
            </a:r>
            <a:endParaRPr lang="en-US" sz="3000" dirty="0"/>
          </a:p>
        </p:txBody>
      </p:sp>
      <p:sp>
        <p:nvSpPr>
          <p:cNvPr id="4" name="Section icon"/>
          <p:cNvSpPr/>
          <p:nvPr/>
        </p:nvSpPr>
        <p:spPr>
          <a:xfrm>
            <a:off x="598932" y="653796"/>
            <a:ext cx="493776" cy="493776"/>
          </a:xfrm>
          <a:prstGeom prst="ellipse">
            <a:avLst/>
          </a:prstGeom>
          <a:solidFill>
            <a:srgbClr val="001F5F"/>
          </a:solidFill>
          <a:ln w="3175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81812"/>
            <a:ext cx="237744" cy="237744"/>
          </a:xfrm>
          <a:prstGeom prst="rect">
            <a:avLst/>
          </a:prstGeom>
        </p:spPr>
      </p:pic>
      <p:sp>
        <p:nvSpPr>
          <p:cNvPr id="6" name="Flow step User"/>
          <p:cNvSpPr/>
          <p:nvPr/>
        </p:nvSpPr>
        <p:spPr>
          <a:xfrm>
            <a:off x="612648" y="1371600"/>
            <a:ext cx="119786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1F5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1481328"/>
            <a:ext cx="338328" cy="338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" y="18745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58368" y="2130552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10" name="Flow arrow"/>
          <p:cNvSpPr/>
          <p:nvPr/>
        </p:nvSpPr>
        <p:spPr>
          <a:xfrm>
            <a:off x="1911096" y="1856232"/>
            <a:ext cx="283464" cy="201168"/>
          </a:xfrm>
          <a:prstGeom prst="rightArrow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Flow step HTML + CSS"/>
          <p:cNvSpPr/>
          <p:nvPr/>
        </p:nvSpPr>
        <p:spPr>
          <a:xfrm>
            <a:off x="2295144" y="1371600"/>
            <a:ext cx="119786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1F5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1481328"/>
            <a:ext cx="338328" cy="33832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95144" y="18745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340864" y="2130552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· style.css</a:t>
            </a:r>
            <a:endParaRPr lang="en-US" sz="1000" dirty="0"/>
          </a:p>
        </p:txBody>
      </p:sp>
      <p:sp>
        <p:nvSpPr>
          <p:cNvPr id="15" name="Flow arrow"/>
          <p:cNvSpPr/>
          <p:nvPr/>
        </p:nvSpPr>
        <p:spPr>
          <a:xfrm>
            <a:off x="3593592" y="1856232"/>
            <a:ext cx="283464" cy="201168"/>
          </a:xfrm>
          <a:prstGeom prst="rightArrow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Flow step JavaScript"/>
          <p:cNvSpPr/>
          <p:nvPr/>
        </p:nvSpPr>
        <p:spPr>
          <a:xfrm>
            <a:off x="3977640" y="1371600"/>
            <a:ext cx="119786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1F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481328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977640" y="18745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023360" y="2130552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· fetch / AJAX</a:t>
            </a:r>
            <a:endParaRPr lang="en-US" sz="1000" dirty="0"/>
          </a:p>
        </p:txBody>
      </p:sp>
      <p:sp>
        <p:nvSpPr>
          <p:cNvPr id="20" name="Flow arrow"/>
          <p:cNvSpPr/>
          <p:nvPr/>
        </p:nvSpPr>
        <p:spPr>
          <a:xfrm>
            <a:off x="5276088" y="1856232"/>
            <a:ext cx="283464" cy="201168"/>
          </a:xfrm>
          <a:prstGeom prst="rightArrow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1" name="Flow step TypeScript"/>
          <p:cNvSpPr/>
          <p:nvPr/>
        </p:nvSpPr>
        <p:spPr>
          <a:xfrm>
            <a:off x="5660136" y="1371600"/>
            <a:ext cx="119786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001F5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1481328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660136" y="18745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705856" y="2130552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· Classes</a:t>
            </a:r>
            <a:endParaRPr lang="en-US" sz="1000" dirty="0"/>
          </a:p>
        </p:txBody>
      </p:sp>
      <p:sp>
        <p:nvSpPr>
          <p:cNvPr id="25" name="Flow arrow"/>
          <p:cNvSpPr/>
          <p:nvPr/>
        </p:nvSpPr>
        <p:spPr>
          <a:xfrm>
            <a:off x="6958584" y="1856232"/>
            <a:ext cx="283464" cy="201168"/>
          </a:xfrm>
          <a:prstGeom prst="rightArrow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Flow step Angular SPA"/>
          <p:cNvSpPr/>
          <p:nvPr/>
        </p:nvSpPr>
        <p:spPr>
          <a:xfrm>
            <a:off x="7342632" y="1371600"/>
            <a:ext cx="1197864" cy="1188720"/>
          </a:xfrm>
          <a:prstGeom prst="roundRect">
            <a:avLst>
              <a:gd name="adj" fmla="val 4615"/>
            </a:avLst>
          </a:prstGeom>
          <a:solidFill>
            <a:srgbClr val="001F5F"/>
          </a:solidFill>
          <a:ln w="15875">
            <a:solidFill>
              <a:srgbClr val="001F5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481328"/>
            <a:ext cx="338328" cy="33832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342632" y="18745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7388352" y="2130552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Services · Router</a:t>
            </a:r>
            <a:endParaRPr lang="en-US" sz="1000" dirty="0"/>
          </a:p>
        </p:txBody>
      </p:sp>
      <p:sp>
        <p:nvSpPr>
          <p:cNvPr id="30" name="Info card STYLING"/>
          <p:cNvSpPr/>
          <p:nvPr/>
        </p:nvSpPr>
        <p:spPr>
          <a:xfrm>
            <a:off x="612648" y="2743200"/>
            <a:ext cx="2569464" cy="713232"/>
          </a:xfrm>
          <a:prstGeom prst="roundRect">
            <a:avLst>
              <a:gd name="adj" fmla="val 10256"/>
            </a:avLst>
          </a:prstGeom>
          <a:solidFill>
            <a:srgbClr val="EEEFF4"/>
          </a:solidFill>
          <a:ln w="9525">
            <a:solidFill>
              <a:srgbClr val="EEEFF4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777240" y="2816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3017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CSS3: external style.css, Grid cards, hover effects</a:t>
            </a:r>
            <a:endParaRPr lang="en-US" sz="1100" dirty="0"/>
          </a:p>
        </p:txBody>
      </p:sp>
      <p:sp>
        <p:nvSpPr>
          <p:cNvPr id="33" name="Info card DATA &amp; APIS"/>
          <p:cNvSpPr/>
          <p:nvPr/>
        </p:nvSpPr>
        <p:spPr>
          <a:xfrm>
            <a:off x="3291840" y="2743200"/>
            <a:ext cx="2569464" cy="713232"/>
          </a:xfrm>
          <a:prstGeom prst="roundRect">
            <a:avLst>
              <a:gd name="adj" fmla="val 10256"/>
            </a:avLst>
          </a:prstGeom>
          <a:solidFill>
            <a:srgbClr val="EEEFF4"/>
          </a:solidFill>
          <a:ln w="9525">
            <a:solidFill>
              <a:srgbClr val="EEEFF4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3456432" y="2816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APIS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3456432" y="3017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+ DTD, JSON files, JSONPlaceholder REST API</a:t>
            </a:r>
            <a:endParaRPr lang="en-US" sz="1100" dirty="0"/>
          </a:p>
        </p:txBody>
      </p:sp>
      <p:sp>
        <p:nvSpPr>
          <p:cNvPr id="36" name="Info card TOOLS"/>
          <p:cNvSpPr/>
          <p:nvPr/>
        </p:nvSpPr>
        <p:spPr>
          <a:xfrm>
            <a:off x="5971032" y="2743200"/>
            <a:ext cx="2569464" cy="713232"/>
          </a:xfrm>
          <a:prstGeom prst="roundRect">
            <a:avLst>
              <a:gd name="adj" fmla="val 10256"/>
            </a:avLst>
          </a:prstGeom>
          <a:solidFill>
            <a:srgbClr val="EEEFF4"/>
          </a:solidFill>
          <a:ln w="9525">
            <a:solidFill>
              <a:srgbClr val="EEEFF4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6135624" y="2816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6135624" y="3017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CLI 21, VS Code, Git &amp; GitHub, Live Server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12648" y="36393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VISITOR MOVES THROUGH THE SITE</a:t>
            </a:r>
            <a:endParaRPr lang="en-US" sz="950" dirty="0"/>
          </a:p>
        </p:txBody>
      </p:sp>
      <p:sp>
        <p:nvSpPr>
          <p:cNvPr id="40" name="Journey step"/>
          <p:cNvSpPr/>
          <p:nvPr/>
        </p:nvSpPr>
        <p:spPr>
          <a:xfrm>
            <a:off x="612648" y="3913632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1F5F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612648" y="39136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1179576" y="3895344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3" name="Journey step"/>
          <p:cNvSpPr/>
          <p:nvPr/>
        </p:nvSpPr>
        <p:spPr>
          <a:xfrm>
            <a:off x="1307592" y="3913632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1F5F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1307592" y="39136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874520" y="3895344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6" name="Journey step"/>
          <p:cNvSpPr/>
          <p:nvPr/>
        </p:nvSpPr>
        <p:spPr>
          <a:xfrm>
            <a:off x="2002536" y="391363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1F5F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2002536" y="39136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2825496" y="3895344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9" name="Journey step"/>
          <p:cNvSpPr/>
          <p:nvPr/>
        </p:nvSpPr>
        <p:spPr>
          <a:xfrm>
            <a:off x="2953512" y="3913632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1F5F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2953512" y="39136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 Data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4215384" y="3895344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2" name="Journey step"/>
          <p:cNvSpPr/>
          <p:nvPr/>
        </p:nvSpPr>
        <p:spPr>
          <a:xfrm>
            <a:off x="4343400" y="3913632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1F5F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4343400" y="391363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5056632" y="3895344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5" name="Journey step"/>
          <p:cNvSpPr/>
          <p:nvPr/>
        </p:nvSpPr>
        <p:spPr>
          <a:xfrm>
            <a:off x="5184648" y="3913632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 w="9525">
            <a:solidFill>
              <a:srgbClr val="8B0000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5184648" y="39136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Gallery</a:t>
            </a:r>
            <a:endParaRPr lang="en-US" sz="1000" dirty="0"/>
          </a:p>
        </p:txBody>
      </p:sp>
      <p:sp>
        <p:nvSpPr>
          <p:cNvPr id="57" name="Text 49"/>
          <p:cNvSpPr txBox="1"/>
          <p:nvPr/>
        </p:nvSpPr>
        <p:spPr>
          <a:xfrm>
            <a:off x="6300216" y="3895344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8" name="Journey step"/>
          <p:cNvSpPr/>
          <p:nvPr/>
        </p:nvSpPr>
        <p:spPr>
          <a:xfrm>
            <a:off x="6428232" y="3913632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 w="9525">
            <a:solidFill>
              <a:srgbClr val="8B0000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6428232" y="3913632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Shoot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7415784" y="3895344"/>
            <a:ext cx="128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1" name="Journey step"/>
          <p:cNvSpPr/>
          <p:nvPr/>
        </p:nvSpPr>
        <p:spPr>
          <a:xfrm>
            <a:off x="7543800" y="3913632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 w="9525">
            <a:solidFill>
              <a:srgbClr val="8B0000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7543800" y="3913632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Bookings</a:t>
            </a: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5486400" y="4261104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steps run inside Angular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· TYPESCRIPT · ANGULAR</a:t>
            </a:r>
            <a:endParaRPr lang="en-US" sz="9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Mapping to Course Concepts</a:t>
            </a:r>
            <a:endParaRPr lang="en-US" sz="3000" dirty="0"/>
          </a:p>
        </p:txBody>
      </p:sp>
      <p:sp>
        <p:nvSpPr>
          <p:cNvPr id="4" name="Section icon"/>
          <p:cNvSpPr/>
          <p:nvPr/>
        </p:nvSpPr>
        <p:spPr>
          <a:xfrm>
            <a:off x="598932" y="653796"/>
            <a:ext cx="493776" cy="493776"/>
          </a:xfrm>
          <a:prstGeom prst="ellipse">
            <a:avLst/>
          </a:prstGeom>
          <a:solidFill>
            <a:srgbClr val="001F5F"/>
          </a:solidFill>
          <a:ln w="3175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81812"/>
            <a:ext cx="237744" cy="237744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335024"/>
          <a:ext cx="7927848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160520"/>
                <a:gridCol w="1618488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used in our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Structure &amp; 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home &amp; register pages; nav, img, lists, form inputs (Wk 1–2)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Devarapalli Akshaya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CSS3 Styling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Inline, internal &amp; external style.css; Grid cards, hover (Wk 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Devarapalli Akshaya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&amp; 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validation.js form checks; catalogue.js live search (Wk 4–5)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Kasam Siddhartha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XML, JSON &amp; AJAX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photographers.xml + DTD; fetch() GET and REST POST (Wk 6–10)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Kasam Siddhartha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portfolio.ts: interface Photo, class Photographer, tsc (Wk 11)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Vellore Yashashwini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Components &amp; Binding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PhotoCard, @Input / @Output, *ngFor, ngClass, appHighlight (Wk 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Vellore Yashashwini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CLI, Services &amp; 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 new / serve / build; PhotoService, BookingService (Wk 13–14)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Syed Ibrahim Ahmed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Forms &amp;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Template-driven booking form; 4 routes + routerLink (Wk 13–14)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1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Syed Ibrahim Ahmed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 · STRUCTURE AND STYLE</a:t>
            </a:r>
            <a:endParaRPr lang="en-US" sz="9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&amp; Styling</a:t>
            </a:r>
            <a:endParaRPr lang="en-US" sz="3000" dirty="0"/>
          </a:p>
        </p:txBody>
      </p:sp>
      <p:sp>
        <p:nvSpPr>
          <p:cNvPr id="4" name="Section icon"/>
          <p:cNvSpPr/>
          <p:nvPr/>
        </p:nvSpPr>
        <p:spPr>
          <a:xfrm>
            <a:off x="598932" y="653796"/>
            <a:ext cx="493776" cy="493776"/>
          </a:xfrm>
          <a:prstGeom prst="ellipse">
            <a:avLst/>
          </a:prstGeom>
          <a:solidFill>
            <a:srgbClr val="001F5F"/>
          </a:solidFill>
          <a:ln w="3175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818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" y="1335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foundation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linked pages share one navbar, from Login to Book a Shoot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use text, email, tel, password, select and submit inputs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external style.css (~55 rules) themes every page</a:t>
            </a:r>
            <a:endParaRPr lang="en-US" sz="1300" dirty="0"/>
          </a:p>
        </p:txBody>
      </p:sp>
      <p:sp>
        <p:nvSpPr>
          <p:cNvPr id="8" name="Screenshot frame"/>
          <p:cNvSpPr/>
          <p:nvPr/>
        </p:nvSpPr>
        <p:spPr>
          <a:xfrm>
            <a:off x="4645152" y="1335024"/>
            <a:ext cx="3895344" cy="1545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pic>
        <p:nvPicPr>
          <p:cNvPr id="9" name="Image 1" descr="Portfolio home pag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0872" y="1380744"/>
            <a:ext cx="3803904" cy="1453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45152" y="290779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week_1/home.html styled by week_3/style.css</a:t>
            </a:r>
            <a:endParaRPr lang="en-US" sz="950" dirty="0"/>
          </a:p>
        </p:txBody>
      </p:sp>
      <p:sp>
        <p:nvSpPr>
          <p:cNvPr id="11" name="Concept card HTML5 Tags"/>
          <p:cNvSpPr/>
          <p:nvPr/>
        </p:nvSpPr>
        <p:spPr>
          <a:xfrm>
            <a:off x="612648" y="320040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Tags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602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 · &lt;form&gt; · &lt;img&gt; · &lt;ul&gt;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Home, Login, Register</a:t>
            </a:r>
            <a:endParaRPr lang="en-US" sz="1100" dirty="0"/>
          </a:p>
        </p:txBody>
      </p:sp>
      <p:sp>
        <p:nvSpPr>
          <p:cNvPr id="15" name="Concept card CSS Methods"/>
          <p:cNvSpPr/>
          <p:nvPr/>
        </p:nvSpPr>
        <p:spPr>
          <a:xfrm>
            <a:off x="3291840" y="320040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56432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Methods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456432" y="3602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· internal · external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3456432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Week 3 comparison pages</a:t>
            </a:r>
            <a:endParaRPr lang="en-US" sz="1100" dirty="0"/>
          </a:p>
        </p:txBody>
      </p:sp>
      <p:sp>
        <p:nvSpPr>
          <p:cNvPr id="19" name="Concept card Layout &amp; Effects"/>
          <p:cNvSpPr/>
          <p:nvPr/>
        </p:nvSpPr>
        <p:spPr>
          <a:xfrm>
            <a:off x="5971032" y="320040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135624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Effects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135624" y="3602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· :hover · box-shadow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6135624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catalogue &amp; photo cards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AJAX · TYPESCRIPT</a:t>
            </a:r>
            <a:endParaRPr lang="en-US" sz="9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 &amp; Typed Code</a:t>
            </a:r>
            <a:endParaRPr lang="en-US" sz="3000" dirty="0"/>
          </a:p>
        </p:txBody>
      </p:sp>
      <p:sp>
        <p:nvSpPr>
          <p:cNvPr id="4" name="Section icon"/>
          <p:cNvSpPr/>
          <p:nvPr/>
        </p:nvSpPr>
        <p:spPr>
          <a:xfrm>
            <a:off x="598932" y="653796"/>
            <a:ext cx="493776" cy="493776"/>
          </a:xfrm>
          <a:prstGeom prst="ellipse">
            <a:avLst/>
          </a:prstGeom>
          <a:solidFill>
            <a:srgbClr val="001F5F"/>
          </a:solidFill>
          <a:ln w="3175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81812"/>
            <a:ext cx="237744" cy="237744"/>
          </a:xfrm>
          <a:prstGeom prst="rect">
            <a:avLst/>
          </a:prstGeom>
        </p:spPr>
      </p:pic>
      <p:sp>
        <p:nvSpPr>
          <p:cNvPr id="6" name="JavaScript &amp; AJAX card"/>
          <p:cNvSpPr/>
          <p:nvPr/>
        </p:nvSpPr>
        <p:spPr>
          <a:xfrm>
            <a:off x="612648" y="1335024"/>
            <a:ext cx="3813048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&amp; AJAX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17556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validation.js: email, 10-digit phone, password match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catalogue.js: live search filters photo cards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fetch(): GET TXT / JSON / XML, POST to REST API</a:t>
            </a:r>
            <a:endParaRPr lang="en-US" sz="1150" dirty="0"/>
          </a:p>
        </p:txBody>
      </p:sp>
      <p:sp>
        <p:nvSpPr>
          <p:cNvPr id="9" name="Code panel"/>
          <p:cNvSpPr/>
          <p:nvPr/>
        </p:nvSpPr>
        <p:spPr>
          <a:xfrm>
            <a:off x="722376" y="2569464"/>
            <a:ext cx="3593592" cy="1783080"/>
          </a:xfrm>
          <a:prstGeom prst="roundRect">
            <a:avLst>
              <a:gd name="adj" fmla="val 4103"/>
            </a:avLst>
          </a:prstGeom>
          <a:solidFill>
            <a:srgbClr val="121C3E"/>
          </a:solidFill>
          <a:ln w="12700">
            <a:solidFill>
              <a:srgbClr val="121C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2104" y="2642616"/>
            <a:ext cx="337413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fetch("photographers.json")            // GET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.then(response =&gt; response.json())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.then(data =&gt; showCards(data));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fetch(API_URL, {                       // POST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"POST",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 "Content-Type": "application/json" },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JSON.stringify(payload)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11" name="TypeScript card"/>
          <p:cNvSpPr/>
          <p:nvPr/>
        </p:nvSpPr>
        <p:spPr>
          <a:xfrm>
            <a:off x="4727448" y="1335024"/>
            <a:ext cx="3813048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28616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928616" y="17556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Photo + class Photographer, typed members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 tsc (tsconfig.json) into portfolio.js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portfolio total shown as Rs. 8500</a:t>
            </a:r>
            <a:endParaRPr lang="en-US" sz="1150" dirty="0"/>
          </a:p>
        </p:txBody>
      </p:sp>
      <p:sp>
        <p:nvSpPr>
          <p:cNvPr id="14" name="Code panel"/>
          <p:cNvSpPr/>
          <p:nvPr/>
        </p:nvSpPr>
        <p:spPr>
          <a:xfrm>
            <a:off x="4837176" y="2569464"/>
            <a:ext cx="3593592" cy="1783080"/>
          </a:xfrm>
          <a:prstGeom prst="roundRect">
            <a:avLst>
              <a:gd name="adj" fmla="val 4103"/>
            </a:avLst>
          </a:prstGeom>
          <a:solidFill>
            <a:srgbClr val="121C3E"/>
          </a:solidFill>
          <a:ln w="12700">
            <a:solidFill>
              <a:srgbClr val="121C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46904" y="2642616"/>
            <a:ext cx="337413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Photo {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price: number;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Photographer {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constructor(public name: string,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public photos: Photo[]) { }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total(): number {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this.photos.reduce(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(sum, p) =&gt; sum + p.price, 0);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· CLI, COMPONENTS, TEMPLATES &amp; DIRECTIVES</a:t>
            </a:r>
            <a:endParaRPr lang="en-US" sz="9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&amp; Data Binding</a:t>
            </a:r>
            <a:endParaRPr lang="en-US" sz="3000" dirty="0"/>
          </a:p>
        </p:txBody>
      </p:sp>
      <p:sp>
        <p:nvSpPr>
          <p:cNvPr id="4" name="Section icon"/>
          <p:cNvSpPr/>
          <p:nvPr/>
        </p:nvSpPr>
        <p:spPr>
          <a:xfrm>
            <a:off x="598932" y="653796"/>
            <a:ext cx="493776" cy="493776"/>
          </a:xfrm>
          <a:prstGeom prst="ellipse">
            <a:avLst/>
          </a:prstGeom>
          <a:solidFill>
            <a:srgbClr val="001F5F"/>
          </a:solidFill>
          <a:ln w="3175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818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" y="1335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in our project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6459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ng new and ng generate; run with ng serve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12: AppComponent + child PhotoCard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13–14: Home, Gallery, Booking, Bookings pages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 + app.config.ts</a:t>
            </a:r>
            <a:endParaRPr lang="en-US" sz="1250" dirty="0"/>
          </a:p>
        </p:txBody>
      </p:sp>
      <p:sp>
        <p:nvSpPr>
          <p:cNvPr id="8" name="Code panel"/>
          <p:cNvSpPr/>
          <p:nvPr/>
        </p:nvSpPr>
        <p:spPr>
          <a:xfrm>
            <a:off x="4645152" y="1335024"/>
            <a:ext cx="3895344" cy="1645920"/>
          </a:xfrm>
          <a:prstGeom prst="roundRect">
            <a:avLst>
              <a:gd name="adj" fmla="val 4444"/>
            </a:avLst>
          </a:prstGeom>
          <a:solidFill>
            <a:srgbClr val="121C3E"/>
          </a:solidFill>
          <a:ln w="12700">
            <a:solidFill>
              <a:srgbClr val="121C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1408176"/>
            <a:ext cx="36758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@Component({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 'app-photo-card',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imports: [NgIf, NgClass, HighlightDirective],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templateUrl: './photo-card.component.html'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PhotoCardComponent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@Input() photo!: Photo;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@Output() liked = new EventEmitter&lt;string&gt;();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Concept card Data Binding"/>
          <p:cNvSpPr/>
          <p:nvPr/>
        </p:nvSpPr>
        <p:spPr>
          <a:xfrm>
            <a:off x="612648" y="320040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02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}} · [photo] · (click)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[(ngModel)]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search box &amp; Like button</a:t>
            </a:r>
            <a:endParaRPr lang="en-US" sz="1100" dirty="0"/>
          </a:p>
        </p:txBody>
      </p:sp>
      <p:sp>
        <p:nvSpPr>
          <p:cNvPr id="14" name="Concept card Directives"/>
          <p:cNvSpPr/>
          <p:nvPr/>
        </p:nvSpPr>
        <p:spPr>
          <a:xfrm>
            <a:off x="3291840" y="320040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56432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56432" y="3602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*ngIf · *ngFor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ngClass · ngStyle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456432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Custom: appHighlight on hover</a:t>
            </a:r>
            <a:endParaRPr lang="en-US" sz="1100" dirty="0"/>
          </a:p>
        </p:txBody>
      </p:sp>
      <p:sp>
        <p:nvSpPr>
          <p:cNvPr id="18" name="Concept card Parent ↔ Child"/>
          <p:cNvSpPr/>
          <p:nvPr/>
        </p:nvSpPr>
        <p:spPr>
          <a:xfrm>
            <a:off x="5971032" y="3200400"/>
            <a:ext cx="256946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35624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↔ Child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135624" y="3602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@Input() · @Output()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EventEmitter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135624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likes counter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· SERVICES, DI, FORMS &amp; ROUTING</a:t>
            </a:r>
            <a:endParaRPr lang="en-US" sz="9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Services, Forms &amp; Routing</a:t>
            </a:r>
            <a:endParaRPr lang="en-US" sz="3000" dirty="0"/>
          </a:p>
        </p:txBody>
      </p:sp>
      <p:sp>
        <p:nvSpPr>
          <p:cNvPr id="4" name="Section icon"/>
          <p:cNvSpPr/>
          <p:nvPr/>
        </p:nvSpPr>
        <p:spPr>
          <a:xfrm>
            <a:off x="598932" y="653796"/>
            <a:ext cx="493776" cy="493776"/>
          </a:xfrm>
          <a:prstGeom prst="ellipse">
            <a:avLst/>
          </a:prstGeom>
          <a:solidFill>
            <a:srgbClr val="001F5F"/>
          </a:solidFill>
          <a:ln w="3175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81812"/>
            <a:ext cx="237744" cy="237744"/>
          </a:xfrm>
          <a:prstGeom prst="rect">
            <a:avLst/>
          </a:prstGeom>
        </p:spPr>
      </p:pic>
      <p:sp>
        <p:nvSpPr>
          <p:cNvPr id="6" name="Services &amp; Template-Driven Form card"/>
          <p:cNvSpPr/>
          <p:nvPr/>
        </p:nvSpPr>
        <p:spPr>
          <a:xfrm>
            <a:off x="612648" y="1335024"/>
            <a:ext cx="3813048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Template-Driven Form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175564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PhotoService &amp; BookingService (providedIn: 'root') injected into Gallery, Booking &amp; Bookings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required, minlength 3, email; Book Now stays disabled until valid</a:t>
            </a:r>
            <a:endParaRPr lang="en-US" sz="1150" dirty="0"/>
          </a:p>
        </p:txBody>
      </p:sp>
      <p:sp>
        <p:nvSpPr>
          <p:cNvPr id="9" name="Code panel"/>
          <p:cNvSpPr/>
          <p:nvPr/>
        </p:nvSpPr>
        <p:spPr>
          <a:xfrm>
            <a:off x="722376" y="2697480"/>
            <a:ext cx="3593592" cy="1655064"/>
          </a:xfrm>
          <a:prstGeom prst="roundRect">
            <a:avLst>
              <a:gd name="adj" fmla="val 4420"/>
            </a:avLst>
          </a:prstGeom>
          <a:solidFill>
            <a:srgbClr val="121C3E"/>
          </a:solidFill>
          <a:ln w="12700">
            <a:solidFill>
              <a:srgbClr val="121C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2104" y="2770632"/>
            <a:ext cx="3374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@Injectable({ providedIn: 'root' })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BookingService { ... }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name="email" [(ngModel)]="booking.email"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#email="ngModel" required email&gt;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[disabled]="bookingForm.invalid"&gt;</a:t>
            </a:r>
            <a:endParaRPr lang="en-US" sz="850" dirty="0"/>
          </a:p>
        </p:txBody>
      </p:sp>
      <p:sp>
        <p:nvSpPr>
          <p:cNvPr id="11" name="Routing &amp; Navigation card"/>
          <p:cNvSpPr/>
          <p:nvPr/>
        </p:nvSpPr>
        <p:spPr>
          <a:xfrm>
            <a:off x="4727448" y="1335024"/>
            <a:ext cx="3813048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28616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Navigation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928616" y="175564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/, /gallery, /book, /bookings; unknown paths go home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routerLink + routerLinkActive in navbar · &lt;router-outlet&gt; in AppComponent; Book passes ?category=</a:t>
            </a:r>
            <a:endParaRPr lang="en-US" sz="1150" dirty="0"/>
          </a:p>
        </p:txBody>
      </p:sp>
      <p:sp>
        <p:nvSpPr>
          <p:cNvPr id="14" name="Code panel"/>
          <p:cNvSpPr/>
          <p:nvPr/>
        </p:nvSpPr>
        <p:spPr>
          <a:xfrm>
            <a:off x="4837176" y="2697480"/>
            <a:ext cx="3593592" cy="1655064"/>
          </a:xfrm>
          <a:prstGeom prst="roundRect">
            <a:avLst>
              <a:gd name="adj" fmla="val 4420"/>
            </a:avLst>
          </a:prstGeom>
          <a:solidFill>
            <a:srgbClr val="121C3E"/>
          </a:solidFill>
          <a:ln w="12700">
            <a:solidFill>
              <a:srgbClr val="121C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46904" y="2770632"/>
            <a:ext cx="33741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routes: Routes = [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'', component: HomeComponent },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'gallery', component: GalleryComponent },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'book', component: BookingComponent },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'bookings', component: BookingsComponent },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'**', redirectTo: '' }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&amp; Results</a:t>
            </a:r>
            <a:endParaRPr lang="en-US" sz="3000" dirty="0"/>
          </a:p>
        </p:txBody>
      </p:sp>
      <p:sp>
        <p:nvSpPr>
          <p:cNvPr id="4" name="Section icon"/>
          <p:cNvSpPr/>
          <p:nvPr/>
        </p:nvSpPr>
        <p:spPr>
          <a:xfrm>
            <a:off x="598932" y="653796"/>
            <a:ext cx="493776" cy="493776"/>
          </a:xfrm>
          <a:prstGeom prst="ellipse">
            <a:avLst/>
          </a:prstGeom>
          <a:solidFill>
            <a:srgbClr val="001F5F"/>
          </a:solidFill>
          <a:ln w="3175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81812"/>
            <a:ext cx="237744" cy="237744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612648" y="1335024"/>
            <a:ext cx="2532888" cy="2093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pic>
        <p:nvPicPr>
          <p:cNvPr id="7" name="Image 1" descr="Angular gallery page with photo cards and Book button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1380744"/>
            <a:ext cx="2441448" cy="2002536"/>
          </a:xfrm>
          <a:prstGeom prst="rect">
            <a:avLst/>
          </a:prstGeom>
        </p:spPr>
      </p:pic>
      <p:sp>
        <p:nvSpPr>
          <p:cNvPr id="8" name="Caption bar"/>
          <p:cNvSpPr/>
          <p:nvPr/>
        </p:nvSpPr>
        <p:spPr>
          <a:xfrm>
            <a:off x="612648" y="3520440"/>
            <a:ext cx="2532888" cy="237744"/>
          </a:xfrm>
          <a:prstGeom prst="roundRect">
            <a:avLst>
              <a:gd name="adj" fmla="val 19231"/>
            </a:avLst>
          </a:prstGeom>
          <a:solidFill>
            <a:srgbClr val="001F5F"/>
          </a:solidFill>
          <a:ln w="12700">
            <a:solidFill>
              <a:srgbClr val="001F5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2648" y="3520440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gallery (/gallery)</a:t>
            </a:r>
            <a:endParaRPr lang="en-US" sz="1100" dirty="0"/>
          </a:p>
        </p:txBody>
      </p:sp>
      <p:sp>
        <p:nvSpPr>
          <p:cNvPr id="10" name="Screenshot frame"/>
          <p:cNvSpPr/>
          <p:nvPr/>
        </p:nvSpPr>
        <p:spPr>
          <a:xfrm>
            <a:off x="3291840" y="1335024"/>
            <a:ext cx="2532888" cy="2093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A44">
                <a:alpha val="12000"/>
              </a:srgbClr>
            </a:outerShdw>
          </a:effectLst>
        </p:spPr>
      </p:sp>
      <p:pic>
        <p:nvPicPr>
          <p:cNvPr id="11" name="Image 2" descr="Booking form showing validation erro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37560" y="1380744"/>
            <a:ext cx="2441448" cy="2002536"/>
          </a:xfrm>
          <a:prstGeom prst="rect">
            <a:avLst/>
          </a:prstGeom>
        </p:spPr>
      </p:pic>
      <p:sp>
        <p:nvSpPr>
          <p:cNvPr id="12" name="Caption bar"/>
          <p:cNvSpPr/>
          <p:nvPr/>
        </p:nvSpPr>
        <p:spPr>
          <a:xfrm>
            <a:off x="3291840" y="3520440"/>
            <a:ext cx="2532888" cy="237744"/>
          </a:xfrm>
          <a:prstGeom prst="roundRect">
            <a:avLst>
              <a:gd name="adj" fmla="val 19231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291840" y="3520440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 with validation</a:t>
            </a:r>
            <a:endParaRPr lang="en-US" sz="1100" dirty="0"/>
          </a:p>
        </p:txBody>
      </p:sp>
      <p:sp>
        <p:nvSpPr>
          <p:cNvPr id="14" name="Results panel"/>
          <p:cNvSpPr/>
          <p:nvPr/>
        </p:nvSpPr>
        <p:spPr>
          <a:xfrm>
            <a:off x="5989320" y="1335024"/>
            <a:ext cx="2551176" cy="2423160"/>
          </a:xfrm>
          <a:prstGeom prst="roundRect">
            <a:avLst>
              <a:gd name="adj" fmla="val 3019"/>
            </a:avLst>
          </a:prstGeom>
          <a:solidFill>
            <a:srgbClr val="001F5F"/>
          </a:solidFill>
          <a:ln w="9525">
            <a:solidFill>
              <a:srgbClr val="001F5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172200" y="1444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1051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92240" y="1783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pages, one shared theme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19456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92240" y="2167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&amp; JS validation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578608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492240" y="25511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XML via AJAX + POST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962656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492240" y="29352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SPA: gallery → book → bookings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346704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492240" y="33192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Live Server &amp; ng serve</a:t>
            </a:r>
            <a:endParaRPr lang="en-US" sz="1150" dirty="0"/>
          </a:p>
        </p:txBody>
      </p:sp>
      <p:sp>
        <p:nvSpPr>
          <p:cNvPr id="26" name="Text 16"/>
          <p:cNvSpPr txBox="1"/>
          <p:nvPr/>
        </p:nvSpPr>
        <p:spPr>
          <a:xfrm>
            <a:off x="612648" y="3950208"/>
            <a:ext cx="7927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is reachable from the portfolio navbar, and both Angular apps are built into /output folders that open straight from the site.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1188720" y="58521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1188720" y="7680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ection icon"/>
          <p:cNvSpPr/>
          <p:nvPr/>
        </p:nvSpPr>
        <p:spPr>
          <a:xfrm>
            <a:off x="598932" y="653796"/>
            <a:ext cx="493776" cy="493776"/>
          </a:xfrm>
          <a:prstGeom prst="ellipse">
            <a:avLst/>
          </a:prstGeom>
          <a:solidFill>
            <a:srgbClr val="001F5F"/>
          </a:solidFill>
          <a:ln w="31750">
            <a:solidFill>
              <a:srgbClr val="8B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781812"/>
            <a:ext cx="237744" cy="237744"/>
          </a:xfrm>
          <a:prstGeom prst="rect">
            <a:avLst/>
          </a:prstGeom>
        </p:spPr>
      </p:pic>
      <p:sp>
        <p:nvSpPr>
          <p:cNvPr id="6" name="Conclusion card"/>
          <p:cNvSpPr/>
          <p:nvPr/>
        </p:nvSpPr>
        <p:spPr>
          <a:xfrm>
            <a:off x="612648" y="1335024"/>
            <a:ext cx="3813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175564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LensFolio grew from static HTML and CSS into a working Angular SPA. Along the way we applied DOM scripting, AJAX with JSON and XML, TypeScript types, and Angular components, services, forms and routing.</a:t>
            </a:r>
            <a:endParaRPr lang="en-US" sz="1250" dirty="0"/>
          </a:p>
        </p:txBody>
      </p:sp>
      <p:sp>
        <p:nvSpPr>
          <p:cNvPr id="9" name="Future scope card"/>
          <p:cNvSpPr/>
          <p:nvPr/>
        </p:nvSpPr>
        <p:spPr>
          <a:xfrm>
            <a:off x="4727448" y="1335024"/>
            <a:ext cx="3813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28616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928616" y="175564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route guards for photographers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Firebase backend via HttpClient to save bookings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forms, currency &amp; date pipes, photo uploads</a:t>
            </a:r>
            <a:endParaRPr lang="en-US" sz="1250" dirty="0"/>
          </a:p>
        </p:txBody>
      </p:sp>
      <p:sp>
        <p:nvSpPr>
          <p:cNvPr id="12" name="References panel"/>
          <p:cNvSpPr/>
          <p:nvPr/>
        </p:nvSpPr>
        <p:spPr>
          <a:xfrm>
            <a:off x="612648" y="3200400"/>
            <a:ext cx="7927848" cy="1188720"/>
          </a:xfrm>
          <a:prstGeom prst="roundRect">
            <a:avLst>
              <a:gd name="adj" fmla="val 6154"/>
            </a:avLst>
          </a:prstGeom>
          <a:solidFill>
            <a:srgbClr val="EEEFF4"/>
          </a:solidFill>
          <a:ln w="9525">
            <a:solidFill>
              <a:srgbClr val="EEEF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" y="352958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Angular Documentation – angular.dev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TypeScript Documentation – typescriptlang.org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MDN Web Docs – developer.mozilla.org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28616" y="3529584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JSONPlaceholder – jsonplaceholder.typicode.com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F4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Unsplash – unsplash.com (portfolio photos)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te"/>
          <p:cNvSpPr/>
          <p:nvPr/>
        </p:nvSpPr>
        <p:spPr>
          <a:xfrm>
            <a:off x="3547872" y="1051560"/>
            <a:ext cx="2057400" cy="704088"/>
          </a:xfrm>
          <a:prstGeom prst="roundRect">
            <a:avLst>
              <a:gd name="adj" fmla="val 10390"/>
            </a:avLst>
          </a:prstGeom>
          <a:solidFill>
            <a:srgbClr val="F9F9FB"/>
          </a:solidFill>
          <a:ln w="12700">
            <a:solidFill>
              <a:srgbClr val="F9F9F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6472" y="1179576"/>
            <a:ext cx="1600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16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00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AIML-C · LensFolio – Online Photography Portfolio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urag EWP">
  <a:themeElements>
    <a:clrScheme name="Anurag EWP">
      <a:dk1>
        <a:srgbClr val="000000"/>
      </a:dk1>
      <a:lt1>
        <a:srgbClr val="FFFFFF"/>
      </a:lt1>
      <a:dk2>
        <a:srgbClr val="001F5F"/>
      </a:dk2>
      <a:lt2>
        <a:srgbClr val="F9F9FB"/>
      </a:lt2>
      <a:accent1>
        <a:srgbClr val="001F5F"/>
      </a:accent1>
      <a:accent2>
        <a:srgbClr val="8B0000"/>
      </a:accent2>
      <a:accent3>
        <a:srgbClr val="2E4A8B"/>
      </a:accent3>
      <a:accent4>
        <a:srgbClr val="C0504D"/>
      </a:accent4>
      <a:accent5>
        <a:srgbClr val="6B7AA1"/>
      </a:accent5>
      <a:accent6>
        <a:srgbClr val="9BA3B8"/>
      </a:accent6>
      <a:hlink>
        <a:srgbClr val="001F5F"/>
      </a:hlink>
      <a:folHlink>
        <a:srgbClr val="8B0000"/>
      </a:folHlink>
    </a:clrScheme>
    <a:fontScheme name="Anurag EW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Anurag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LensFolio – Online Photography Portfolio</dc:title>
  <dc:subject>PptxGenJS Presentation</dc:subject>
  <dc:creator>AIML-C Team</dc:creator>
  <cp:lastModifiedBy>AIML-C Team</cp:lastModifiedBy>
  <cp:revision>1</cp:revision>
  <dcterms:created xsi:type="dcterms:W3CDTF">2026-10-13T17:17:44Z</dcterms:created>
  <dcterms:modified xsi:type="dcterms:W3CDTF">2026-10-13T17:17:44Z</dcterms:modified>
</cp:coreProperties>
</file>